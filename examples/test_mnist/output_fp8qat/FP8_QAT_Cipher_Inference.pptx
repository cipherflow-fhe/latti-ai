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4864"/>
            <a:ext cx="12188952" cy="27432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700"/>
                </a:solidFill>
                <a:latin typeface="Consolas"/>
              </a:defRPr>
            </a:pPr>
            <a:r>
              <a:t>CKKS Parameter Selection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onsolas"/>
              </a:defRPr>
            </a:pPr>
            <a:r>
              <a:t>for QAT Model Encrypted 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377440"/>
            <a:ext cx="3931920" cy="27432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onsolas"/>
              </a:defRPr>
            </a:pPr>
            <a:r>
              <a:t>A reusable methodology to design custom CKKS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onsolas"/>
              </a:defRPr>
            </a:pPr>
            <a:r>
              <a:t>that exploit QAT noise tolerance for smaller ring 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3876" y="3931920"/>
            <a:ext cx="2194560" cy="11887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3876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D8"/>
                </a:solidFill>
                <a:latin typeface="Consolas"/>
              </a:defRPr>
            </a:pPr>
            <a:r>
              <a:t>N=8,192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3876" y="4572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Ring Dimension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62756" y="3931920"/>
            <a:ext cx="2194560" cy="11887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2756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onsolas"/>
              </a:defRPr>
            </a:pPr>
            <a:r>
              <a:t>5.6x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2756" y="4572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Speedup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3931920"/>
            <a:ext cx="2194560" cy="11887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97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1636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97B16"/>
                </a:solidFill>
                <a:latin typeface="Consolas"/>
              </a:defRPr>
            </a:pPr>
            <a:r>
              <a:t>~127-bit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636" y="4572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00516" y="3931920"/>
            <a:ext cx="2194560" cy="11887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0516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onsolas"/>
              </a:defRPr>
            </a:pPr>
            <a: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0516" y="4572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FD8"/>
                </a:solidFill>
                <a:latin typeface="Consolas"/>
              </a:defRPr>
            </a:pPr>
            <a:r>
              <a:t>Case Study: FP8 QAT MNIST  |  1,194 ms Inference  |  24-bit CKKS Primes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nsolas"/>
              </a:defRPr>
            </a:pPr>
            <a:r>
              <a:t>latti-ai  |  CipherFlow FHE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onsolas"/>
              </a:defRPr>
            </a:pPr>
            <a: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48640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Problem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533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Why FP8 + smaller ring dimension?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64792"/>
            <a:ext cx="548640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379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64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Our Core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208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CKKS param selection for QAT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32304"/>
            <a:ext cx="548640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0545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32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Methodology &amp; 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68833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Step-by-step parameter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99815"/>
            <a:ext cx="548640" cy="502920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72967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9981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Case Study: FP8 QAT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55847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Applying the methodology to MNIST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67328"/>
            <a:ext cx="548640" cy="502920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673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Case Study: FHE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023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ReLU → polynomial, pooling, BN fusion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548640" cy="502920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079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Case Study: CKKS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908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Custom PN13QP218s with 24-bit primes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102352"/>
            <a:ext cx="548640" cy="502920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17550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1023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Encrypted Inference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35838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Performance comparison &amp; verification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769864"/>
            <a:ext cx="548640" cy="502920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84301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769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Generalization &amp;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60258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Applicable to any QAT model + FHE inference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1188720"/>
            <a:ext cx="4114800" cy="5029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onsolas"/>
              </a:defRPr>
            </a:pPr>
            <a:r>
              <a:t>Key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Consolas"/>
              </a:defRPr>
            </a:pPr>
            <a:r>
              <a:t>N = 8,192  (poly modulus degree)</a:t>
            </a:r>
          </a:p>
          <a:p/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7 levels (24-bit Q primes)</a:t>
            </a:r>
          </a:p>
          <a:p/>
          <a:p>
            <a:pPr algn="l">
              <a:spcAft>
                <a:spcPts val="400"/>
              </a:spcAft>
              <a:defRPr sz="800" b="0">
                <a:solidFill>
                  <a:srgbClr val="64748B"/>
                </a:solidFill>
                <a:latin typeface="Consolas"/>
              </a:defRPr>
            </a:pPr>
          </a:p>
          <a:p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onsolas"/>
              </a:defRPr>
            </a:pPr>
            <a:r>
              <a:t>Inference Time</a:t>
            </a:r>
          </a:p>
          <a:p/>
          <a:p>
            <a:pPr algn="l">
              <a:spcAft>
                <a:spcPts val="400"/>
              </a:spcAft>
              <a:defRPr sz="3200" b="1">
                <a:solidFill>
                  <a:srgbClr val="10B981"/>
                </a:solidFill>
                <a:latin typeface="Consolas"/>
              </a:defRPr>
            </a:pPr>
            <a:r>
              <a:t>1,194 ms</a:t>
            </a:r>
          </a:p>
          <a:p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onsolas"/>
              </a:defRPr>
            </a:pPr>
            <a:r>
              <a:t>vs 6,701 ms baseline</a:t>
            </a:r>
          </a:p>
          <a:p/>
          <a:p>
            <a:pPr algn="l">
              <a:spcAft>
                <a:spcPts val="400"/>
              </a:spcAft>
              <a:defRPr sz="800" b="0">
                <a:solidFill>
                  <a:srgbClr val="64748B"/>
                </a:solidFill>
                <a:latin typeface="Consolas"/>
              </a:defRPr>
            </a:pPr>
          </a:p>
          <a:p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onsolas"/>
              </a:defRPr>
            </a:pPr>
            <a:r>
              <a:t>Speedup</a:t>
            </a:r>
          </a:p>
          <a:p/>
          <a:p>
            <a:pPr algn="l">
              <a:spcAft>
                <a:spcPts val="400"/>
              </a:spcAft>
              <a:defRPr sz="2800" b="1">
                <a:solidFill>
                  <a:srgbClr val="F97B16"/>
                </a:solidFill>
                <a:latin typeface="Consolas"/>
              </a:defRPr>
            </a:pPr>
            <a:r>
              <a:t>5.6x faster</a:t>
            </a:r>
          </a:p>
          <a:p/>
          <a:p>
            <a:pPr algn="l">
              <a:spcAft>
                <a:spcPts val="400"/>
              </a:spcAft>
              <a:defRPr sz="800" b="0">
                <a:solidFill>
                  <a:srgbClr val="64748B"/>
                </a:solidFill>
                <a:latin typeface="Consolas"/>
              </a:defRPr>
            </a:pPr>
          </a:p>
          <a:p/>
          <a:p>
            <a:pPr algn="l"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Max error: 0.037 | Verification: 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onsolas"/>
              </a:defRPr>
            </a:pPr>
            <a:r>
              <a:t>Problem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F4444"/>
                </a:solidFill>
                <a:latin typeface="Consolas"/>
              </a:defRPr>
            </a:pPr>
            <a:r>
              <a:t>The Problem</a:t>
            </a:r>
          </a:p>
          <a:p/>
          <a:p>
            <a:pPr algn="l">
              <a:spcAft>
                <a:spcPts val="400"/>
              </a:spcAft>
              <a:defRPr sz="600" b="0">
                <a:solidFill>
                  <a:srgbClr val="64748B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Standard N=8192 (PN13QP218) provides only 5 levels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Our model requires 7 multiplicative levels:</a:t>
            </a:r>
          </a:p>
          <a:p>
            <a:pPr>
              <a:spcAft>
                <a:spcPts val="300"/>
              </a:spcAft>
              <a:defRPr sz="1200" b="0">
                <a:solidFill>
                  <a:srgbClr val="A0AEC0"/>
                </a:solidFill>
                <a:latin typeface="Consolas"/>
              </a:defRPr>
            </a:pPr>
            <a:r>
              <a:t>  Conv(1) + Poly(2) + Conv(1) + Poly(2) + FC(1) = 7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N=16384 works but is 2x slower (6,701 ms)</a:t>
            </a:r>
          </a:p>
          <a:p>
            <a:pPr>
              <a:spcAft>
                <a:spcPts val="300"/>
              </a:spcAft>
              <a:defRPr sz="1300" b="0">
                <a:solidFill>
                  <a:srgbClr val="F97B16"/>
                </a:solidFill>
                <a:latin typeface="Consolas"/>
              </a:defRPr>
            </a:pPr>
            <a:r>
              <a:t>Goal: run at N=8192 for faster 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28016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0B981"/>
                </a:solidFill>
                <a:latin typeface="Consolas"/>
              </a:defRPr>
            </a:pPr>
            <a:r>
              <a:t>Key Insight</a:t>
            </a:r>
          </a:p>
          <a:p/>
          <a:p>
            <a:pPr algn="l">
              <a:spcAft>
                <a:spcPts val="400"/>
              </a:spcAft>
              <a:defRPr sz="600" b="0">
                <a:solidFill>
                  <a:srgbClr val="64748B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CKKS security depends on logQP (total modulus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bit-width), NOT individual prime sizes</a:t>
            </a:r>
          </a:p>
          <a:p/>
          <a:p>
            <a:pPr algn="l">
              <a:spcAft>
                <a:spcPts val="400"/>
              </a:spcAft>
              <a:defRPr sz="600" b="0">
                <a:solidFill>
                  <a:srgbClr val="64748B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10B981"/>
                </a:solidFill>
                <a:latin typeface="Consolas"/>
              </a:defRPr>
            </a:pPr>
            <a:r>
              <a:t>Smaller primes = more levels in same budget!</a:t>
            </a:r>
          </a:p>
          <a:p/>
          <a:p>
            <a:pPr algn="l">
              <a:spcAft>
                <a:spcPts val="400"/>
              </a:spcAft>
              <a:defRPr sz="600" b="0">
                <a:solidFill>
                  <a:srgbClr val="64748B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FP8 models are tolerant of reduced precision</a:t>
            </a:r>
          </a:p>
          <a:p>
            <a:pPr>
              <a:spcAft>
                <a:spcPts val="300"/>
              </a:spcAft>
              <a:defRPr sz="1300" b="0">
                <a:solidFill>
                  <a:srgbClr val="F97B16"/>
                </a:solidFill>
                <a:latin typeface="Consolas"/>
              </a:defRPr>
            </a:pPr>
            <a:r>
              <a:t>→ Perfect match for small-prime CKKS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2286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D8"/>
                </a:solidFill>
                <a:latin typeface="Consolas"/>
              </a:defRPr>
            </a:pPr>
            <a:r>
              <a:t>Trade-off: Per-Level Precision vs. Number of Levels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937760"/>
            <a:ext cx="4754880" cy="12801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0292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64748B"/>
                </a:solidFill>
                <a:latin typeface="Consolas"/>
              </a:defRPr>
            </a:pPr>
            <a:r>
              <a:t>Standard PN13QP218</a:t>
            </a:r>
          </a:p>
          <a:p/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Q = 1x33 + 5x30-bit  |  5 levels  |  30-bit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937760"/>
            <a:ext cx="5029200" cy="12801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0292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0B981"/>
                </a:solidFill>
                <a:latin typeface="Consolas"/>
              </a:defRPr>
            </a:pPr>
            <a:r>
              <a:t>Custom PN13QP218s</a:t>
            </a:r>
          </a:p>
          <a:p/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Q = 1x26 + 7x24-bit  |  7 levels  |  24-bit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Consolas"/>
              </a:defRPr>
            </a:pPr>
            <a:r>
              <a:t>Our Core Contribution: CKKS Param Selection for QAT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1280160"/>
          </a:xfrm>
          <a:prstGeom prst="roundRect">
            <a:avLst/>
          </a:prstGeom>
          <a:solidFill>
            <a:srgbClr val="1A1A00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A systematic methodology to design custom CKKS parameters that exploit the reduced-precision tolerance</a:t>
            </a:r>
          </a:p>
          <a:p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of QAT models, enabling encrypted inference at smaller polynomial degrees (N) with significant speedup.</a:t>
            </a:r>
          </a:p>
          <a:p/>
          <a:p>
            <a:pPr algn="l">
              <a:spcAft>
                <a:spcPts val="400"/>
              </a:spcAft>
              <a:defRPr sz="600" b="0">
                <a:solidFill>
                  <a:srgbClr val="64748B"/>
                </a:solidFill>
                <a:latin typeface="Consolas"/>
              </a:defRPr>
            </a:pPr>
          </a:p>
          <a:p/>
          <a:p>
            <a:pPr algn="l">
              <a:spcAft>
                <a:spcPts val="400"/>
              </a:spcAft>
              <a:defRPr sz="1200" b="0">
                <a:solidFill>
                  <a:srgbClr val="FFD700"/>
                </a:solidFill>
                <a:latin typeface="Consolas"/>
              </a:defRPr>
            </a:pPr>
            <a:r>
              <a:t>Applicable to ANY quantized model (FP8/INT8/INT4) running FHE inference on the latti-ai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338328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BFD8"/>
                </a:solidFill>
                <a:latin typeface="Consolas"/>
              </a:defRPr>
            </a:pPr>
            <a: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QAT models learn noise-tolerant representations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FP8 E4M3 quantization adds ~3-4 bits of noise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CKKS scale precision beyond model need is wasted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CKKS security = logQP, not individual prime size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Smaller primes = more levels in same security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51760"/>
            <a:ext cx="338328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7C3AED"/>
                </a:solidFill>
                <a:latin typeface="Consolas"/>
              </a:defRPr>
            </a:pPr>
            <a: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1. Profile model multiplicative depth (L)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2. Choose target N by min ring dimension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3. Compute security budget: logQP_max(N)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4. Select Q prime bit-width matching quant precision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5. Solve: fit L levels within logQP_max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6. Validate P &gt;= Q for key switching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651760"/>
            <a:ext cx="338328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788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onsolas"/>
              </a:defRPr>
            </a:pPr>
            <a: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004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Fewer levels needed (quant model is shallower)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Smaller N (faster NTT, less memory, lower latency)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No bootstrapping needed for moderate-depth models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Pluggable into existing compiler pipeline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Automatic selection via compiler auto-tuning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Consolas"/>
              </a:defRPr>
            </a:pPr>
            <a:r>
              <a:t>CKKS Parameter Selection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188720" cy="365760"/>
          </a:xfrm>
          <a:prstGeom prst="roundRect">
            <a:avLst/>
          </a:prstGeom>
          <a:solidFill>
            <a:srgbClr val="F97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onsolas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24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B16"/>
                </a:solidFill>
                <a:latin typeface="Consolas"/>
              </a:defRPr>
            </a:pPr>
            <a:r>
              <a:t>Profile Model Depth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Count multiplicative levels consumed by each layer:</a:t>
            </a:r>
            <a:br/>
            <a:r>
              <a:t>  Conv2d = 1 level, PolyRelu(d) = ceil(log2 d) levels</a:t>
            </a:r>
            <a:br/>
            <a:r>
              <a:t>  FC = 1 level, BN = 0 (fused into Conv)</a:t>
            </a:r>
            <a:br/>
            <a:r>
              <a:t>Example: Conv(1) + Poly2(2) + Conv(1) + Poly2(2) + FC(1) =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188720" cy="365760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onsolas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41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D8"/>
                </a:solidFill>
                <a:latin typeface="Consolas"/>
              </a:defRPr>
            </a:pPr>
            <a:r>
              <a:t>Choose Target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80360"/>
            <a:ext cx="10698480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Start from smallest N that could theoretically fit:</a:t>
            </a:r>
            <a:br/>
            <a:r>
              <a:t>  For N=8192: logQP_budget = 218 (128-bit security)</a:t>
            </a:r>
            <a:br/>
            <a:r>
              <a:t>  For N=16384: logQP_budget = 438 (128-bit security)</a:t>
            </a:r>
            <a:br/>
            <a:r>
              <a:t>Smaller N = faster NTT = faster 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18872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onsolas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58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Set Q Prime Bit-Width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10698480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1596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Match CKKS scale precision to quantization format:</a:t>
            </a:r>
            <a:br/>
            <a:r>
              <a:t>  FP8 (E4M3): ~3-bit mantissa -&gt; 22-26 bit Q primes</a:t>
            </a:r>
            <a:br/>
            <a:r>
              <a:t>  INT8: similar range -&gt; 22-26 bit Q primes</a:t>
            </a:r>
            <a:br/>
            <a:r>
              <a:t>  FP32: full precision -&gt; 30-34 bit Q primes</a:t>
            </a:r>
            <a:br/>
            <a:r>
              <a:t>Key insight: quantized models don't need 34-bit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57800"/>
            <a:ext cx="118872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onsolas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276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onsolas"/>
              </a:defRPr>
            </a:pPr>
            <a:r>
              <a:t>Solve Level Packing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15000"/>
            <a:ext cx="10698480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3328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Given: required_levels (L), logQP_budget, Q_bits</a:t>
            </a:r>
            <a:br/>
            <a:r>
              <a:t>Compute: logQP = log2(Q0) + L * Q_bits + log2(P)</a:t>
            </a:r>
            <a:br/>
            <a:r>
              <a:t>Constraint: logQP &lt;= logQP_budget AND P_bits &gt;= Q_bits</a:t>
            </a:r>
            <a:br/>
            <a:r>
              <a:t>Adjust Q_bits down until constraints are satisfied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onsolas"/>
              </a:defRPr>
            </a:pPr>
            <a:r>
              <a:t>Case Study: FP8 Quantization-Aware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onsolas"/>
              </a:defRPr>
            </a:pPr>
            <a:r>
              <a:t>Model: SimpleCNN (16x16 MNIST)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0AEC0"/>
                </a:solidFill>
                <a:latin typeface="Consolas"/>
              </a:defRPr>
            </a:pPr>
            <a:r>
              <a:t>Input(1x16x16) -&gt; Conv2d(1,16,k=5,s=2) -&gt; BN -&gt; ReLU -&gt; Conv2d(16,32,k=3,s=2) -&gt; BN -&gt; ReLU -&gt; Flatten -&gt; Dropout -&gt; Linear(512,10)</a:t>
            </a:r>
          </a:p>
          <a:p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onsolas"/>
              </a:defRPr>
            </a:pPr>
            <a:r>
              <a:t>~11K parameters  |  2 convolutional layers + 1 FC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2286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D8"/>
                </a:solidFill>
                <a:latin typeface="Consolas"/>
              </a:defRPr>
            </a:pPr>
            <a:r>
              <a:t>Training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840480"/>
            <a:ext cx="10058400" cy="365760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onsolas"/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onsolas"/>
              </a:defRPr>
            </a:pPr>
            <a:r>
              <a:t>Test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onsolas"/>
              </a:defRPr>
            </a:pPr>
            <a:r>
              <a:t>Delta vs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onsolas"/>
              </a:defRPr>
            </a:pPr>
            <a:r>
              <a:t>Method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251960"/>
            <a:ext cx="10058400" cy="3200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FP32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98.56%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--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Standard training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599432"/>
            <a:ext cx="10058400" cy="3200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626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FP8 Post-Quant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626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98.50%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626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-0.06%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6268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Quantize after training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4946904"/>
            <a:ext cx="10058400" cy="3200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74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FP8 QAT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974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98.55%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974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-0.01%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743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Fake quant with STE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69280"/>
            <a:ext cx="1069848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FP8 QAT applies fake quantization (E4M3) during training via Straight-Through Estimator (STE). Weights remain FP32 but learn to be robust to quantization noise — nearly perfectly recovering baseline accuracy.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onsolas"/>
              </a:defRPr>
            </a:pPr>
            <a:r>
              <a:t>Case Study: FHE Model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3200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onsolas"/>
              </a:defRPr>
            </a:pPr>
            <a:r>
              <a:t>Activation Replacement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ReLU -&gt; polynomial approximation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RangeNormPoly2d (degree 2)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Polynomial degree 2: cost = 2 levels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Fine-tuned 7 epochs: 97.76%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097280"/>
            <a:ext cx="3474720" cy="3200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D8"/>
                </a:solidFill>
                <a:latin typeface="Consolas"/>
              </a:defRPr>
            </a:pPr>
            <a:r>
              <a:t>Pooling Replacement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17373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MaxPool -&gt; AvgPool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MaxPool requires comparison ops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Comparison unsupported in FHE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AvgPool = depthwise conv equivalent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097280"/>
            <a:ext cx="3474720" cy="3200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onsolas"/>
              </a:defRPr>
            </a:pPr>
            <a:r>
              <a:t>Conv + BN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7373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BatchNorm fused into Conv weights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No extra multiplicative levels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scale = gamma / sqrt(var + eps)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fused_w[i] = w[i]*scale[i] + bias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10698480" cy="20116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97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B16"/>
                </a:solidFill>
                <a:latin typeface="Consolas"/>
              </a:defRPr>
            </a:pPr>
            <a:r>
              <a:t>Level Consumption (degree=2, ordinary style)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20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input L=7  -&gt;  Conv L7-&gt;6(1)  -&gt;  Poly L6-&gt;4(2)  -&gt;  Conv L4-&gt;3(1)  -&gt;  Poly L3-&gt;1(2)  -&gt;  FC L1-&gt;0(1)  -&gt;  output L=0</a:t>
            </a:r>
          </a:p>
          <a:p/>
          <a:p>
            <a:pPr algn="l">
              <a:spcAft>
                <a:spcPts val="400"/>
              </a:spcAft>
              <a:defRPr sz="1300" b="1">
                <a:solidFill>
                  <a:srgbClr val="10B981"/>
                </a:solidFill>
                <a:latin typeface="Consolas"/>
              </a:defRPr>
            </a:pPr>
            <a:r>
              <a:t>Total: 7 multiplicative levels consumed (fits exactly in PN13QP218s)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onsolas"/>
              </a:defRPr>
            </a:pPr>
            <a:r>
              <a:t>Case Study: CKKS Param Design — PN13QP218s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3200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D8"/>
                </a:solidFill>
                <a:latin typeface="Consolas"/>
              </a:defRPr>
            </a:pPr>
            <a:r>
              <a:t>Parameter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N = 8,192  (logN = 13)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max_level = 7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log_default_scale = 24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64748B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A0AEC0"/>
                </a:solidFill>
                <a:latin typeface="Consolas"/>
              </a:defRPr>
            </a:pPr>
            <a:r>
              <a:t>Q0: 1 x 26-bit (0x2044001)</a:t>
            </a:r>
          </a:p>
          <a:p>
            <a:pPr>
              <a:spcAft>
                <a:spcPts val="300"/>
              </a:spcAft>
              <a:defRPr sz="1200" b="0">
                <a:solidFill>
                  <a:srgbClr val="A0AEC0"/>
                </a:solidFill>
                <a:latin typeface="Consolas"/>
              </a:defRPr>
            </a:pPr>
            <a:r>
              <a:t>Q1-Q7: 7 x 24-bit (NTT-friendly)</a:t>
            </a:r>
          </a:p>
          <a:p>
            <a:pPr>
              <a:spcAft>
                <a:spcPts val="300"/>
              </a:spcAft>
              <a:defRPr sz="1200" b="0">
                <a:solidFill>
                  <a:srgbClr val="A0AEC0"/>
                </a:solidFill>
                <a:latin typeface="Consolas"/>
              </a:defRPr>
            </a:pPr>
            <a:r>
              <a:t>P: 1 x 26-bit (0x207C001)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64748B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10B981"/>
                </a:solidFill>
                <a:latin typeface="Consolas"/>
              </a:defRPr>
            </a:pPr>
            <a:r>
              <a:t>logQP = 220 (~127-bit security)</a:t>
            </a:r>
          </a:p>
          <a:p>
            <a:pPr>
              <a:spcAft>
                <a:spcPts val="300"/>
              </a:spcAft>
              <a:defRPr sz="1200" b="0">
                <a:solidFill>
                  <a:srgbClr val="F97B16"/>
                </a:solidFill>
                <a:latin typeface="Consolas"/>
              </a:defRPr>
            </a:pPr>
            <a:r>
              <a:t>P &gt;= Q (key switching requirement)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029200" cy="3200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onsolas"/>
              </a:defRPr>
            </a:pPr>
            <a:r>
              <a:t>Design Iterations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91640"/>
            <a:ext cx="4663440" cy="457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64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22-bit Q + 34-bit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7647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logQP=216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7647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error 0.170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17647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onsolas"/>
              </a:defRPr>
            </a:pPr>
            <a:r>
              <a:t>FAIL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240280"/>
            <a:ext cx="4663440" cy="457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313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24-bit Q + 22-bit 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313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logQP=218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313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error 2.093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23134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onsolas"/>
              </a:defRPr>
            </a:pPr>
            <a:r>
              <a:t>FAIL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788920"/>
            <a:ext cx="4663440" cy="457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862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24/22 hybrid + 26-bit 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8620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logQP=218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862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error 0.106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2862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onsolas"/>
              </a:defRPr>
            </a:pPr>
            <a:r>
              <a:t>FAIL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337560"/>
            <a:ext cx="4663440" cy="457200"/>
          </a:xfrm>
          <a:prstGeom prst="roundRect">
            <a:avLst/>
          </a:prstGeom>
          <a:solidFill>
            <a:srgbClr val="0A2A1A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410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24-bit Q + 26-bit 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4107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logQP=220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4107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error 0.037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34107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10698480" cy="20116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97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709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B16"/>
                </a:solidFill>
                <a:latin typeface="Consolas"/>
              </a:defRPr>
            </a:pPr>
            <a:r>
              <a:t>Key Lessons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1206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1. P must be &gt;= largest Q level prime for correct key switching (catastrophic failure otherwise)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2. 22-bit Q primes lack precision for polynomial activations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3. Uniform 24-bit Q primes provide the best balance of precision and level count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4. All primes must satisfy p = 1 (mod 2N) for NTT compatibility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onsolas"/>
              </a:defRPr>
            </a:pPr>
            <a:r>
              <a:t>Encrypted Inference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560320" cy="411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Metric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097280"/>
            <a:ext cx="2560320" cy="411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0AEC0"/>
                </a:solidFill>
                <a:latin typeface="Consolas"/>
              </a:defRPr>
            </a:pPr>
            <a:r>
              <a:t>FP32 + d=4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560320" cy="411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0AEC0"/>
                </a:solidFill>
                <a:latin typeface="Consolas"/>
              </a:defRPr>
            </a:pPr>
            <a:r>
              <a:t>FP8 QAT + d=2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097280"/>
            <a:ext cx="2560320" cy="411480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onsolas"/>
              </a:defRPr>
            </a:pPr>
            <a:r>
              <a:t>FP8 QAT + d=2 (Ours)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72768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618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CKKS Parameter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572768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618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PN14QP438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72768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18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PN14QP438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72768"/>
            <a:ext cx="2560320" cy="365760"/>
          </a:xfrm>
          <a:prstGeom prst="roundRect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618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PN13QP218s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1975104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020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Poly Modulus Degree (N)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1975104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2020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16,384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975104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020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16,384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1975104"/>
            <a:ext cx="2560320" cy="365760"/>
          </a:xfrm>
          <a:prstGeom prst="roundRect">
            <a:avLst/>
          </a:prstGeom>
          <a:solidFill>
            <a:srgbClr val="08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020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8,192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377440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Multiplicative Levels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2377440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377440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2377440"/>
            <a:ext cx="2560320" cy="365760"/>
          </a:xfrm>
          <a:prstGeom prst="roundRect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2779776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Q Prime Size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2779776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34-bit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779776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34-bit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2779776"/>
            <a:ext cx="2560320" cy="365760"/>
          </a:xfrm>
          <a:prstGeom prst="roundRect">
            <a:avLst/>
          </a:prstGeom>
          <a:solidFill>
            <a:srgbClr val="08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24-bit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182112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3227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Log Default Scale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74720" y="3182112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1880" y="3227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34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3182112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227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34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3182112"/>
            <a:ext cx="2560320" cy="365760"/>
          </a:xfrm>
          <a:prstGeom prst="roundRect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3227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24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584448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3630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Security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74720" y="3584448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11880" y="3630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128-bit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3584448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3630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128-bit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61120" y="3584448"/>
            <a:ext cx="2560320" cy="365760"/>
          </a:xfrm>
          <a:prstGeom prst="roundRect">
            <a:avLst/>
          </a:prstGeom>
          <a:solidFill>
            <a:srgbClr val="08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98280" y="3630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~127-bit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3986784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40325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Plaintext Accuracy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74720" y="3986784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11880" y="40325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98.56%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0" y="3986784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55080" y="40325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97.76%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61120" y="3986784"/>
            <a:ext cx="2560320" cy="365760"/>
          </a:xfrm>
          <a:prstGeom prst="roundRect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98280" y="40325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97.76%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4389120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Inference Time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74720" y="4389120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1188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6,701 ms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17920" y="4389120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5508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4,346 ms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61120" y="4389120"/>
            <a:ext cx="2560320" cy="365760"/>
          </a:xfrm>
          <a:prstGeom prst="roundRect">
            <a:avLst/>
          </a:prstGeom>
          <a:solidFill>
            <a:srgbClr val="08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9828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97B16"/>
                </a:solidFill>
                <a:latin typeface="Consolas"/>
              </a:defRPr>
            </a:pPr>
            <a:r>
              <a:t>1,194 ms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4791456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8680" y="4837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Max Absolute Error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474720" y="4791456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11880" y="4837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0.000016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17920" y="4791456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80" y="4837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0.000018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61120" y="4791456"/>
            <a:ext cx="2560320" cy="365760"/>
          </a:xfrm>
          <a:prstGeom prst="roundRect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98280" y="4837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0.037035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31520" y="5193792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868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Verification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474720" y="5193792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1188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PASS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17920" y="5193792"/>
            <a:ext cx="25603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5508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PASS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961120" y="5193792"/>
            <a:ext cx="2560320" cy="365760"/>
          </a:xfrm>
          <a:prstGeom prst="roundRect">
            <a:avLst/>
          </a:prstGeom>
          <a:solidFill>
            <a:srgbClr val="08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9828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PASS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31520" y="5596128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8680" y="5641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Speedup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474720" y="5596128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11880" y="5641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1.0x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17920" y="5596128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55080" y="5641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1.5x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961120" y="5596128"/>
            <a:ext cx="2560320" cy="365760"/>
          </a:xfrm>
          <a:prstGeom prst="roundRect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98280" y="5641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97B16"/>
                </a:solidFill>
                <a:latin typeface="Consolas"/>
              </a:defRPr>
            </a:pPr>
            <a:r>
              <a:t>5.6x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97B16"/>
                </a:solidFill>
                <a:latin typeface="Consolas"/>
              </a:defRPr>
            </a:pPr>
            <a:r>
              <a:t>Our approach: FP8 QAT + degree-2 poly + custom 24-bit CKKS primes = 5.6x speedup at N=8192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onsolas"/>
              </a:defRPr>
            </a:pPr>
            <a:r>
              <a:t>Verification Detail (FP8 QAT, N=8192)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36576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onsolas"/>
              </a:defRPr>
            </a:pPr>
            <a:r>
              <a:t>Encrypted vs Plaintext Output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FD8"/>
                </a:solidFill>
                <a:latin typeface="Consolas"/>
              </a:defRPr>
            </a:pPr>
            <a:r>
              <a:t>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FD8"/>
                </a:solidFill>
                <a:latin typeface="Consolas"/>
              </a:defRPr>
            </a:pPr>
            <a:r>
              <a:t>Encrypted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9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FD8"/>
                </a:solidFill>
                <a:latin typeface="Consolas"/>
              </a:defRPr>
            </a:pPr>
            <a:r>
              <a:t>Plaintext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799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FD8"/>
                </a:solidFill>
                <a:latin typeface="Consolas"/>
              </a:defRPr>
            </a:pPr>
            <a:r>
              <a:t>Abs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65960"/>
            <a:ext cx="10058400" cy="256032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842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8424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-2.03323238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8424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-1.99619718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98424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F4444"/>
                </a:solidFill>
                <a:latin typeface="Consolas"/>
              </a:defRPr>
            </a:pPr>
            <a:r>
              <a:t>0.03703520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240279"/>
            <a:ext cx="10058400" cy="25603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258567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25856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-0.12924453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5856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-0.16405774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25856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F4444"/>
                </a:solidFill>
                <a:latin typeface="Consolas"/>
              </a:defRPr>
            </a:pPr>
            <a:r>
              <a:t>0.03481321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2514600"/>
            <a:ext cx="10058400" cy="256032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5328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53288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 1.95609878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53288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 1.96626933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53288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0.01017055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2788920"/>
            <a:ext cx="10058400" cy="25603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280720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280720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-0.20319583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80720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-0.20021933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80720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0.00297650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3063239"/>
            <a:ext cx="10058400" cy="256032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081527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08152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-2.36351947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08152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-2.37562968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08152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0.01211021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3337560"/>
            <a:ext cx="10058400" cy="25603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3355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335584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 0.61226799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35584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 0.61428893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35584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0.00202095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3611879"/>
            <a:ext cx="10058400" cy="256032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3630167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363016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-1.17538829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63016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-1.17316265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363016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0.00222563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" y="3886200"/>
            <a:ext cx="10058400" cy="25603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3904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390448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 0.05304573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390448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 0.02736787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90448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0.02567785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5840" y="4160520"/>
            <a:ext cx="10058400" cy="256032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417880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417880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 0.54493935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417880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 0.55579004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17880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0.01085069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5840" y="4434840"/>
            <a:ext cx="10058400" cy="25603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445312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445312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-1.88872228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445312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 -1.91488866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45312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Consolas"/>
              </a:defRPr>
            </a:pPr>
            <a:r>
              <a:t>0.02616638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5029200"/>
            <a:ext cx="5029200" cy="13716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5166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Max absolute error:  0.03703520</a:t>
            </a:r>
          </a:p>
          <a:p/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Avg absolute error:  0.01640472</a:t>
            </a:r>
          </a:p>
          <a:p/>
          <a:p>
            <a:pPr algn="l">
              <a:spcAft>
                <a:spcPts val="400"/>
              </a:spcAft>
              <a:defRPr sz="1600" b="1">
                <a:solidFill>
                  <a:srgbClr val="10B981"/>
                </a:solidFill>
                <a:latin typeface="Consolas"/>
              </a:defRPr>
            </a:pPr>
            <a:r>
              <a:t>Result:  PASS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5029200"/>
            <a:ext cx="5303520" cy="13716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5166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Classification: digit 2</a:t>
            </a:r>
          </a:p>
          <a:p/>
          <a:p>
            <a:pPr algn="l">
              <a:spcAft>
                <a:spcPts val="400"/>
              </a:spcAft>
              <a:defRPr sz="1300" b="0">
                <a:solidFill>
                  <a:srgbClr val="10B981"/>
                </a:solidFill>
                <a:latin typeface="Consolas"/>
              </a:defRPr>
            </a:pPr>
            <a:r>
              <a:t>Both encrypted &amp; plaintext predict class 2</a:t>
            </a:r>
          </a:p>
          <a:p/>
          <a:p>
            <a:pPr algn="l">
              <a:spcAft>
                <a:spcPts val="400"/>
              </a:spcAft>
              <a:defRPr sz="1300" b="1">
                <a:solidFill>
                  <a:srgbClr val="10B981"/>
                </a:solidFill>
                <a:latin typeface="Consolas"/>
              </a:defRPr>
            </a:pPr>
            <a:r>
              <a:t>Correct classification preserved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Consolas"/>
              </a:defRPr>
            </a:pPr>
            <a:r>
              <a:t>Generalization: QAT + Custom CKKS for Any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411480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onsolas"/>
              </a:defRPr>
            </a:pPr>
            <a:r>
              <a:t>Quantization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onsolas"/>
              </a:defRPr>
            </a:pPr>
            <a:r>
              <a:t>Q 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onsolas"/>
              </a:defRPr>
            </a:pPr>
            <a:r>
              <a:t>Typical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9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onsolas"/>
              </a:defRPr>
            </a:pPr>
            <a:r>
              <a:t>Min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onsolas"/>
              </a:defRPr>
            </a:pPr>
            <a:r>
              <a:t>Speedup vs FP32 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72768"/>
            <a:ext cx="228600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184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FP8 (E4M3)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572768"/>
            <a:ext cx="21031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618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24-bit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572768"/>
            <a:ext cx="21031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618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7-9 levels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59" y="1572768"/>
            <a:ext cx="21031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9" y="1618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N=8192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572768"/>
            <a:ext cx="21031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618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4-6x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1975104"/>
            <a:ext cx="228600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0208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INT8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1975104"/>
            <a:ext cx="21031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20208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22-24-bit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1975104"/>
            <a:ext cx="21031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20208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7-9 levels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59" y="1975104"/>
            <a:ext cx="21031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9" y="20208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N=8192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1975104"/>
            <a:ext cx="21031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20208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4-6x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2377440"/>
            <a:ext cx="228600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INT4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2377440"/>
            <a:ext cx="21031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2423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20-22-bit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2377440"/>
            <a:ext cx="21031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2423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7-9 levels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59" y="2377440"/>
            <a:ext cx="21031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199" y="2423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N=8192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0" y="2377440"/>
            <a:ext cx="21031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2423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4-6x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2779776"/>
            <a:ext cx="228600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28254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FP16 (QAT)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0" y="2779776"/>
            <a:ext cx="21031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0" y="2825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28-30-bit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0" y="2779776"/>
            <a:ext cx="21031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2825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7-9 levels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23759" y="2779776"/>
            <a:ext cx="21031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199" y="2825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N=16384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2779776"/>
            <a:ext cx="2103120" cy="365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0" y="2825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FD8"/>
                </a:solidFill>
                <a:latin typeface="Consolas"/>
              </a:defRPr>
            </a:pPr>
            <a:r>
              <a:t>2-3x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3182112"/>
            <a:ext cx="228600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3227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FP32 (no QAT)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0" y="3182112"/>
            <a:ext cx="21031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08960" y="32278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34-bit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20640" y="3182112"/>
            <a:ext cx="21031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12080" y="32278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7-9 levels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23759" y="3182112"/>
            <a:ext cx="21031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199" y="32278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N=16384+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26880" y="3182112"/>
            <a:ext cx="21031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0" y="32278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1.0x (baseline)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3749039"/>
            <a:ext cx="502920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onsolas"/>
              </a:defRPr>
            </a:pPr>
            <a:r>
              <a:t>Why This Matters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8720" y="42976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Enables N=8192 for models that previously required N=16384+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No bootstrapping needed for moderate-depth quantized models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Automatic integration into compiler pipeline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Orthogonal to other optimizations (poly degree, model pruning)</a:t>
            </a:r>
          </a:p>
          <a:p>
            <a:pPr>
              <a:spcAft>
                <a:spcPts val="300"/>
              </a:spcAft>
              <a:defRPr sz="1200" b="1">
                <a:solidFill>
                  <a:srgbClr val="10B981"/>
                </a:solidFill>
                <a:latin typeface="Consolas"/>
              </a:defRPr>
            </a:pPr>
            <a:r>
              <a:t>Directly applicable to production FHE deployments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26480" y="3749039"/>
            <a:ext cx="530352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3886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onsolas"/>
              </a:defRPr>
            </a:pPr>
            <a:r>
              <a:t>Compiler Integration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4297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pipeline.py: auto-search smallest viable N</a:t>
            </a:r>
          </a:p>
          <a:p>
            <a:pPr>
              <a:spcAft>
                <a:spcPts val="3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  try_no_btp() tests PN13QP218s first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components.py: parameter set definitions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deploy_cmds.py: HE instruction lookup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inference_process.cpp: custom Q/P loading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64748B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7C3AED"/>
                </a:solidFill>
                <a:latin typeface="Consolas"/>
              </a:defRPr>
            </a:pPr>
            <a:r>
              <a:t>User workflow: train QAT model -&gt; compile -&gt; inference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EC0"/>
                </a:solidFill>
                <a:latin typeface="Consolas"/>
              </a:defRPr>
            </a:pPr>
            <a:r>
              <a:t>(parameter selection is fully automatic)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onsolas"/>
              </a:defRPr>
            </a:pPr>
            <a:r>
              <a:t>Code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914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components.py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New PN13QP218s parameter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24-bit Q, 26-bit P, 7 levels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914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13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onsolas"/>
              </a:defRPr>
            </a:pPr>
            <a:r>
              <a:t>pipeline.py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13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Compiler parameter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PN13QP218s first in auto-selection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39"/>
            <a:ext cx="10698480" cy="914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649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D8"/>
                </a:solidFill>
                <a:latin typeface="Consolas"/>
              </a:defRPr>
            </a:pPr>
            <a:r>
              <a:t>deploy_cmds.py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649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HE instruction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0331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PN13QP218s in _FHE_PARAMS lookup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43400"/>
            <a:ext cx="10698480" cy="914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97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16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B16"/>
                </a:solidFill>
                <a:latin typeface="Consolas"/>
              </a:defRPr>
            </a:pPr>
            <a:r>
              <a:t>inference_process.cpp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16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Server-side param loading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54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Read custom Q/P from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94959"/>
            <a:ext cx="10698480" cy="914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6811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  <a:latin typeface="Consolas"/>
              </a:defRPr>
            </a:pPr>
            <a:r>
              <a:t>CMakeLists.txt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4681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macOS ARM64 build fixes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80643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Guard -maes, remove Linux-only flags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00B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onsolas"/>
              </a:defRPr>
            </a:pPr>
            <a:r>
              <a:t>End-to-End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01168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Consolas"/>
              </a:defRPr>
            </a:pPr>
            <a:r>
              <a:t>FP32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98.56%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280160"/>
            <a:ext cx="201168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417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Consolas"/>
              </a:defRPr>
            </a:pPr>
            <a:r>
              <a:t>FP8 QAT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194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98.55%</a:t>
            </a:r>
            <a:br/>
            <a:r>
              <a:t>(-0.01%)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280160"/>
            <a:ext cx="201168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417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FD8"/>
                </a:solidFill>
                <a:latin typeface="Consolas"/>
              </a:defRPr>
            </a:pPr>
            <a:r>
              <a:t>FHE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194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97.76%</a:t>
            </a:r>
            <a:br/>
            <a:r>
              <a:t>(-0.80%)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280160"/>
            <a:ext cx="201168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97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417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97B16"/>
                </a:solidFill>
                <a:latin typeface="Consolas"/>
              </a:defRPr>
            </a:pPr>
            <a:r>
              <a:t>Custom CKKS</a:t>
            </a:r>
            <a:br/>
            <a:r>
              <a:t>Parameter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194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N=8192</a:t>
            </a:r>
            <a:br/>
            <a:r>
              <a:t>7 levels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280160"/>
            <a:ext cx="201168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1417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onsolas"/>
              </a:defRPr>
            </a:pPr>
            <a:r>
              <a:t>Encrypted</a:t>
            </a:r>
            <a:br/>
            <a:r>
              <a:t>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194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1,194 ms</a:t>
            </a:r>
            <a:br/>
            <a:r>
              <a:t>5.6x speedup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474720"/>
            <a:ext cx="10698480" cy="31089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611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D8"/>
                </a:solidFill>
                <a:latin typeface="Consolas"/>
              </a:defRPr>
            </a:pPr>
            <a:r>
              <a:t>Reproduction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023360"/>
            <a:ext cx="9875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A0AEC0"/>
                </a:solidFill>
                <a:latin typeface="Consolas"/>
              </a:defRPr>
            </a:pPr>
            <a:r>
              <a:t># Step 1: Compile with auto CKKS parameter selection (selects PN13QP218s)</a:t>
            </a:r>
          </a:p>
          <a:p/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python3 training/run_compile.py \</a:t>
            </a:r>
          </a:p>
          <a:p/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-i examples/test_mnist/output_fp8qat/trained_poly_d2.onnx \</a:t>
            </a:r>
          </a:p>
          <a:p/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-o examples/test_mnist/output_fp8qat --style ordinary</a:t>
            </a:r>
          </a:p>
          <a:p/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</a:p>
          <a:p/>
          <a:p>
            <a:pPr algn="l">
              <a:spcAft>
                <a:spcPts val="400"/>
              </a:spcAft>
              <a:defRPr sz="1000" b="0">
                <a:solidFill>
                  <a:srgbClr val="A0AEC0"/>
                </a:solidFill>
                <a:latin typeface="Consolas"/>
              </a:defRPr>
            </a:pPr>
            <a:r>
              <a:t># Step 2: Generate HE instructions</a:t>
            </a:r>
          </a:p>
          <a:p/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python3 inference/interface/gen_mega_ag.py --task-dir examples/test_mnist/output_fp8qat/task</a:t>
            </a:r>
          </a:p>
          <a:p/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</a:p>
          <a:p/>
          <a:p>
            <a:pPr algn="l">
              <a:spcAft>
                <a:spcPts val="400"/>
              </a:spcAft>
              <a:defRPr sz="1000" b="0">
                <a:solidFill>
                  <a:srgbClr val="A0AEC0"/>
                </a:solidFill>
                <a:latin typeface="Consolas"/>
              </a:defRPr>
            </a:pPr>
            <a:r>
              <a:t># Step 3: Run encrypted inference</a:t>
            </a:r>
          </a:p>
          <a:p/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./build/examples/inference \</a:t>
            </a:r>
          </a:p>
          <a:p/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--task-dir examples/test_mnist/output_fp8qat/task \</a:t>
            </a:r>
          </a:p>
          <a:p/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--input examples/test_mnist/output_fp8qat/task/client/img.csv --verify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4864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Consolas"/>
              </a:defRPr>
            </a:pPr>
            <a:r>
              <a:t>Summary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29260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B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D8"/>
                </a:solidFill>
                <a:latin typeface="Consolas"/>
              </a:defRPr>
            </a:pPr>
            <a:r>
              <a:t>What We Did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Trained FP8 QAT model (98.55%, -0.01% vs FP32)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Converted to FHE-compatible polynomial model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Designed custom PN13QP218s (24-bit Q, 7 levels)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Ran encrypted inference at N=8192 in 1,194 ms</a:t>
            </a:r>
          </a:p>
          <a:p>
            <a:pPr>
              <a:spcAft>
                <a:spcPts val="300"/>
              </a:spcAft>
              <a:defRPr sz="1200" b="1">
                <a:solidFill>
                  <a:srgbClr val="10B981"/>
                </a:solidFill>
                <a:latin typeface="Consolas"/>
              </a:defRPr>
            </a:pPr>
            <a:r>
              <a:t>Achieved 5.6x speedup, verification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029200" cy="29260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onsolas"/>
              </a:defRPr>
            </a:pPr>
            <a:r>
              <a:t>Core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Generalized CKKS parameter selection methodology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Exploits QAT noise tolerance for smaller primes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Enables smaller N = faster encrypted inference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Automatic compiler integration, no manual tuning</a:t>
            </a:r>
          </a:p>
          <a:p>
            <a:pPr>
              <a:spcAft>
                <a:spcPts val="300"/>
              </a:spcAft>
              <a:defRPr sz="1200" b="1">
                <a:solidFill>
                  <a:srgbClr val="FFD700"/>
                </a:solidFill>
                <a:latin typeface="Consolas"/>
              </a:defRPr>
            </a:pPr>
            <a:r>
              <a:t>Applicable to all QAT models (FP8/INT8/INT4)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698480" cy="1371600"/>
          </a:xfrm>
          <a:prstGeom prst="roundRect">
            <a:avLst/>
          </a:prstGeom>
          <a:solidFill>
            <a:srgbClr val="1A1A00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onsolas"/>
              </a:defRPr>
            </a:pPr>
            <a:r>
              <a:t>Key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onsolas"/>
              </a:defRPr>
            </a:pPr>
            <a:r>
              <a:t>5.6x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onsolas"/>
              </a:defRPr>
            </a:pPr>
            <a:r>
              <a:t>Speedup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800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D8"/>
                </a:solidFill>
                <a:latin typeface="Consolas"/>
              </a:defRPr>
            </a:pPr>
            <a:r>
              <a:t>1,194ms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onsolas"/>
              </a:defRPr>
            </a:pPr>
            <a:r>
              <a:t>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800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Consolas"/>
              </a:defRPr>
            </a:pPr>
            <a:r>
              <a:t>N=8,192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onsolas"/>
              </a:defRPr>
            </a:pPr>
            <a:r>
              <a:t>Ring Dim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800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97B16"/>
                </a:solidFill>
                <a:latin typeface="Consolas"/>
              </a:defRPr>
            </a:pPr>
            <a:r>
              <a:t>~127-bit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onsolas"/>
              </a:defRPr>
            </a:pPr>
            <a: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4800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onsolas"/>
              </a:defRPr>
            </a:pPr>
            <a:r>
              <a:t>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onsolas"/>
              </a:defRPr>
            </a:pPr>
            <a:r>
              <a:t>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D700"/>
                </a:solidFill>
                <a:latin typeface="Consolas"/>
              </a:defRPr>
            </a:pPr>
            <a:r>
              <a:t>FP8 QAT + Custom CKKS Parameter Selection = Practical Encrypted Neural Network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74980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